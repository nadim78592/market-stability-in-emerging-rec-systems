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6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9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89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Issuances</c:v>
                </c:pt>
              </c:strCache>
            </c:strRef>
          </c:tx>
          <c:spPr>
            <a:solidFill>
              <a:srgbClr val="1E6FB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C9F-4DAF-BAE8-CBB79C2CA0BF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9F-4DAF-BAE8-CBB79C2CA0BF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9F-4DAF-BAE8-CBB79C2CA0BF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C9F-4DAF-BAE8-CBB79C2CA0BF}"/>
              </c:ext>
            </c:extLst>
          </c:dPt>
          <c:dPt>
            <c:idx val="4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C9F-4DAF-BAE8-CBB79C2CA0B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C9F-4DAF-BAE8-CBB79C2CA0BF}"/>
              </c:ext>
            </c:extLst>
          </c:dPt>
          <c:dPt>
            <c:idx val="6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C9F-4DAF-BAE8-CBB79C2CA0BF}"/>
              </c:ext>
            </c:extLst>
          </c:dPt>
          <c:dPt>
            <c:idx val="7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C9F-4DAF-BAE8-CBB79C2CA0BF}"/>
              </c:ext>
            </c:extLst>
          </c:dPt>
          <c:cat>
            <c:strRef>
              <c:f>Sheet1!$A$2:$A$9</c:f>
              <c:strCache>
                <c:ptCount val="8"/>
                <c:pt idx="0">
                  <c:v>China</c:v>
                </c:pt>
                <c:pt idx="1">
                  <c:v>Brazil</c:v>
                </c:pt>
                <c:pt idx="2">
                  <c:v>Chile</c:v>
                </c:pt>
                <c:pt idx="3">
                  <c:v>India</c:v>
                </c:pt>
                <c:pt idx="4">
                  <c:v>Mexico</c:v>
                </c:pt>
                <c:pt idx="5">
                  <c:v>Colombia</c:v>
                </c:pt>
                <c:pt idx="6">
                  <c:v>Vietnam</c:v>
                </c:pt>
                <c:pt idx="7">
                  <c:v>Turkey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890</c:v>
                </c:pt>
                <c:pt idx="1">
                  <c:v>420</c:v>
                </c:pt>
                <c:pt idx="2">
                  <c:v>280</c:v>
                </c:pt>
                <c:pt idx="3">
                  <c:v>210</c:v>
                </c:pt>
                <c:pt idx="4">
                  <c:v>180</c:v>
                </c:pt>
                <c:pt idx="5">
                  <c:v>140</c:v>
                </c:pt>
                <c:pt idx="6">
                  <c:v>110</c:v>
                </c:pt>
                <c:pt idx="7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C9F-4DAF-BAE8-CBB79C2CA0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Redemptions</c:v>
                </c:pt>
              </c:strCache>
            </c:strRef>
          </c:tx>
          <c:spPr>
            <a:solidFill>
              <a:srgbClr val="1E6FB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B31-4E4E-B141-207B1A45B3EF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31-4E4E-B141-207B1A45B3EF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31-4E4E-B141-207B1A45B3EF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B31-4E4E-B141-207B1A45B3EF}"/>
              </c:ext>
            </c:extLst>
          </c:dPt>
          <c:dPt>
            <c:idx val="4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B31-4E4E-B141-207B1A45B3E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B31-4E4E-B141-207B1A45B3EF}"/>
              </c:ext>
            </c:extLst>
          </c:dPt>
          <c:dPt>
            <c:idx val="6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B31-4E4E-B141-207B1A45B3EF}"/>
              </c:ext>
            </c:extLst>
          </c:dPt>
          <c:dPt>
            <c:idx val="7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B31-4E4E-B141-207B1A45B3EF}"/>
              </c:ext>
            </c:extLst>
          </c:dPt>
          <c:cat>
            <c:strRef>
              <c:f>Sheet1!$A$2:$A$9</c:f>
              <c:strCache>
                <c:ptCount val="8"/>
                <c:pt idx="0">
                  <c:v>China</c:v>
                </c:pt>
                <c:pt idx="1">
                  <c:v>Brazil</c:v>
                </c:pt>
                <c:pt idx="2">
                  <c:v>India</c:v>
                </c:pt>
                <c:pt idx="3">
                  <c:v>Chile</c:v>
                </c:pt>
                <c:pt idx="4">
                  <c:v>Mexico</c:v>
                </c:pt>
                <c:pt idx="5">
                  <c:v>Vietnam</c:v>
                </c:pt>
                <c:pt idx="6">
                  <c:v>Colombia</c:v>
                </c:pt>
                <c:pt idx="7">
                  <c:v>Turkey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620</c:v>
                </c:pt>
                <c:pt idx="1">
                  <c:v>310</c:v>
                </c:pt>
                <c:pt idx="2">
                  <c:v>180</c:v>
                </c:pt>
                <c:pt idx="3">
                  <c:v>160</c:v>
                </c:pt>
                <c:pt idx="4">
                  <c:v>120</c:v>
                </c:pt>
                <c:pt idx="5">
                  <c:v>90</c:v>
                </c:pt>
                <c:pt idx="6">
                  <c:v>75</c:v>
                </c:pt>
                <c:pt idx="7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B31-4E4E-B141-207B1A45B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WGI Score (Sample)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411-425F-AF3B-72DDE04224F7}"/>
              </c:ext>
            </c:extLst>
          </c:dPt>
          <c:dPt>
            <c:idx val="1"/>
            <c:invertIfNegative val="0"/>
            <c:bubble3D val="0"/>
            <c:spPr>
              <a:solidFill>
                <a:srgbClr val="1E6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11-425F-AF3B-72DDE04224F7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411-425F-AF3B-72DDE04224F7}"/>
              </c:ext>
            </c:extLst>
          </c:dPt>
          <c:dPt>
            <c:idx val="3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411-425F-AF3B-72DDE04224F7}"/>
              </c:ext>
            </c:extLst>
          </c:dPt>
          <c:dPt>
            <c:idx val="4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411-425F-AF3B-72DDE04224F7}"/>
              </c:ext>
            </c:extLst>
          </c:dPt>
          <c:dPt>
            <c:idx val="5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411-425F-AF3B-72DDE04224F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Control of Corruption</c:v>
                </c:pt>
                <c:pt idx="1">
                  <c:v>Government Effectiveness</c:v>
                </c:pt>
                <c:pt idx="2">
                  <c:v>Political Stability</c:v>
                </c:pt>
                <c:pt idx="3">
                  <c:v>Regulatory Quality</c:v>
                </c:pt>
                <c:pt idx="4">
                  <c:v>Rule of Law</c:v>
                </c:pt>
                <c:pt idx="5">
                  <c:v>Voice &amp; Accountability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0.42</c:v>
                </c:pt>
                <c:pt idx="1">
                  <c:v>0.57999999999999996</c:v>
                </c:pt>
                <c:pt idx="2">
                  <c:v>0.35</c:v>
                </c:pt>
                <c:pt idx="3">
                  <c:v>0.61</c:v>
                </c:pt>
                <c:pt idx="4">
                  <c:v>0.49</c:v>
                </c:pt>
                <c:pt idx="5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411-425F-AF3B-72DDE04224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Issuances</c:v>
                </c:pt>
              </c:strCache>
            </c:strRef>
          </c:tx>
          <c:spPr>
            <a:solidFill>
              <a:srgbClr val="1E6FB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24-4162-A1A3-E16E1ED85BF6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24-4162-A1A3-E16E1ED85BF6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24-4162-A1A3-E16E1ED85BF6}"/>
              </c:ext>
            </c:extLst>
          </c:dPt>
          <c:cat>
            <c:strRef>
              <c:f>Sheet1!$A$2:$A$4</c:f>
              <c:strCache>
                <c:ptCount val="3"/>
                <c:pt idx="0">
                  <c:v>Strong Governance</c:v>
                </c:pt>
                <c:pt idx="1">
                  <c:v>Moderate Governance</c:v>
                </c:pt>
                <c:pt idx="2">
                  <c:v>Weak Governance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320</c:v>
                </c:pt>
                <c:pt idx="1">
                  <c:v>145</c:v>
                </c:pt>
                <c:pt idx="2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24-4162-A1A3-E16E1ED85B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6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B9-4B3D-8CBC-D8DF51D308A0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B9-4B3D-8CBC-D8DF51D308A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3B9-4B3D-8CBC-D8DF51D308A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3B9-4B3D-8CBC-D8DF51D308A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Training (80%)</c:v>
                </c:pt>
                <c:pt idx="1">
                  <c:v>Testing (20%)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B9-4B3D-8CBC-D8DF51D308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Value</c:v>
                </c:pt>
              </c:strCache>
            </c:strRef>
          </c:tx>
          <c:spPr>
            <a:solidFill>
              <a:srgbClr val="1E6FB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D74-4F73-A316-C4C49EB12295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D74-4F73-A316-C4C49EB12295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D74-4F73-A316-C4C49EB12295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D74-4F73-A316-C4C49EB12295}"/>
              </c:ext>
            </c:extLst>
          </c:dPt>
          <c:dPt>
            <c:idx val="4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D74-4F73-A316-C4C49EB1229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ED74-4F73-A316-C4C49EB12295}"/>
              </c:ext>
            </c:extLst>
          </c:dPt>
          <c:cat>
            <c:strRef>
              <c:f>Sheet1!$A$2:$A$7</c:f>
              <c:strCache>
                <c:ptCount val="6"/>
                <c:pt idx="0">
                  <c:v>Gov. Effectiveness</c:v>
                </c:pt>
                <c:pt idx="1">
                  <c:v>Regulatory Quality</c:v>
                </c:pt>
                <c:pt idx="2">
                  <c:v>Political Stability</c:v>
                </c:pt>
                <c:pt idx="3">
                  <c:v>Rule of Law</c:v>
                </c:pt>
                <c:pt idx="4">
                  <c:v>Control of Corruption</c:v>
                </c:pt>
                <c:pt idx="5">
                  <c:v>Voice &amp; Accountability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85.4</c:v>
                </c:pt>
                <c:pt idx="1">
                  <c:v>62.1</c:v>
                </c:pt>
                <c:pt idx="2">
                  <c:v>48.3</c:v>
                </c:pt>
                <c:pt idx="3">
                  <c:v>35.200000000000003</c:v>
                </c:pt>
                <c:pt idx="4">
                  <c:v>22.8</c:v>
                </c:pt>
                <c:pt idx="5">
                  <c:v>14.5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D74-4F73-A316-C4C49EB122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73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This is the title slide for Md Nadim's MSc dissertation. Introduce yourself, your department, and the topic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global renewable energy transition. Explain that I-REC is an international renewable energy certificate standard used in emerging markets. Emphasize why market stability matters for policy and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core research problems. Emphasize that predictive studies are missing in literature and this research fills that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objective clearly. Emphasize that this research bridges market analysis with machine learning prediction — a novel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datasets were used. The I-REC Registry contains certificate market data. The World Governance Indicators (WGI) from World Bank provide six dimensions of institutional quality. Both merged at the Country-Year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8-step methodology from data collection to insights. Emphasize that the pipeline integrates both statistical and machine learning approaches.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preprocessing step. The WGI long-to-wide transformation and Country-Year aggregation were key steps to enable proper merging.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engineered features. The supply-demand gap is the most critical metric. Governance strength classification enables group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post-2020 growth was accelerated by COVID recovery policies and green energy pledges globally.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China's dominance reflects its massive renewable energy infrastructure build-out. Discuss emerging market diversification.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Redemptions lag issuances, reflecting the structural oversupply in the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redemption leaders closely mirror issuance leaders, suggesting integrated domestic 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policy implications of persistent oversupply — price depression and certificate devaluation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WGI indicators. Regulatory Quality and Government Effectiveness are hypothesized to have the strongest links to renewable market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positive scatter relationship. Countries with higher Government Effectiveness WGI scores tend to have larger I-REC issuance volumes.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Countries with higher Regulatory Quality tend to show a smaller supply-demand gap, suggesting better-regulated markets achieve more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classification methodology: countries averaged their WGI score and were ranked into three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ML section. Explain that governance indicators are used as features to predict I-REC issuances.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8-step ML pipeline. Emphasize that this is a reproducible research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the choice of Linear Regression. The 80-20 split is standard for moderate-sized research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transparent about model limitations. R²=0.31 is modest but reasonable for governance-only prediction. Discuss why governance alone may not be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that larger coefficient values indicate stronger influence on predicted issuance volumes.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captures overall trends but struggles with extreme outliers. Discuss that this is expected when using governance as the sole predictor.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five key findings confidently. These are the core contributions of the dissertation.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Translate findings into concrete policy recommendations. Emphasize that governance improvements are actionable for policymakers.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limitations honestly. Examiners appreciate self-awareness. These limitations naturally lead to the future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these as genuine research opportunities. Time-series models and multi-factor regression would be natural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these conclusions confidently. Reiterate the dissertation's contribution — novel combination of market analysis and governance-based predictive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committee and invite questions. Be ready to defend any specific methodology choice or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23660" y="100584"/>
            <a:ext cx="2583180" cy="247116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60261" y="349758"/>
            <a:ext cx="2178558" cy="1994916"/>
          </a:xfrm>
          <a:prstGeom prst="ellipse">
            <a:avLst/>
          </a:prstGeom>
          <a:solidFill>
            <a:srgbClr val="1E6FBF">
              <a:alpha val="40000"/>
            </a:srgbClr>
          </a:solidFill>
          <a:ln w="12700">
            <a:solidFill>
              <a:srgbClr val="1E6FB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6412"/>
            <a:ext cx="2084070" cy="184708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420" y="1051560"/>
            <a:ext cx="411480" cy="4114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964692"/>
            <a:ext cx="411480" cy="411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051560"/>
            <a:ext cx="73152" cy="2743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7772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Stability in Emerging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Certificate Systems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82296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Country-Level Analysis and Predictive Modeling Approach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22960" y="3017520"/>
            <a:ext cx="7315200" cy="27432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Nadim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822960" y="36393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Banking &amp; Financial Analytics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22960" y="39867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Under the Guidance of: Dr. </a:t>
            </a:r>
            <a:r>
              <a:rPr lang="en-IN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Moonis Shakeel Professor D/o Economics</a:t>
            </a:r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849624"/>
            <a:ext cx="457200" cy="457200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3832860"/>
            <a:ext cx="457200" cy="457200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8176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4864" cy="1737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143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247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Transition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shift toward clean energy drives demand for certificate systems that verify renewable generation.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96012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960120"/>
            <a:ext cx="54864" cy="173736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143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1247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I-REC Market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73752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I-REC helps track and trade renewable energy certificates across countries.</a:t>
            </a:r>
          </a:p>
        </p:txBody>
      </p:sp>
      <p:sp>
        <p:nvSpPr>
          <p:cNvPr id="14" name="Shape 10"/>
          <p:cNvSpPr/>
          <p:nvPr/>
        </p:nvSpPr>
        <p:spPr>
          <a:xfrm>
            <a:off x="320040" y="29260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926080"/>
            <a:ext cx="54864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1089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0906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Stability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4632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A balanced market is important for renewable energy growth and investor confidence.</a:t>
            </a:r>
          </a:p>
        </p:txBody>
      </p:sp>
      <p:sp>
        <p:nvSpPr>
          <p:cNvPr id="19" name="Shape 14"/>
          <p:cNvSpPr/>
          <p:nvPr/>
        </p:nvSpPr>
        <p:spPr>
          <a:xfrm>
            <a:off x="4709160" y="29260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926080"/>
            <a:ext cx="54864" cy="17373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1089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30906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Quality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73752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Strong governance and regulations can support better renewable market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96012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8686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" y="11704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I-REC markets face significant instability due to supply-demand imbalances, governance variations, and a lack of predictive research to guide policy and investment decisions.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201168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325880" y="2240280"/>
            <a:ext cx="640080" cy="640080"/>
          </a:xfrm>
          <a:prstGeom prst="ellipse">
            <a:avLst/>
          </a:prstGeom>
          <a:solidFill>
            <a:srgbClr val="E74C3C">
              <a:alpha val="85000"/>
            </a:srgbClr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235000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Supply-Demand Imbalance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/>
              <a:t>Issuances are often higher than redemptions, creating market oversupply.</a:t>
            </a:r>
          </a:p>
        </p:txBody>
      </p:sp>
      <p:sp>
        <p:nvSpPr>
          <p:cNvPr id="13" name="Shape 9"/>
          <p:cNvSpPr/>
          <p:nvPr/>
        </p:nvSpPr>
        <p:spPr>
          <a:xfrm>
            <a:off x="3154680" y="201168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160520" y="2240280"/>
            <a:ext cx="640080" cy="640080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2350008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9184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Variation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29184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/>
              <a:t>Differences in governance and regulations affect renewable market performance across countries.</a:t>
            </a:r>
          </a:p>
        </p:txBody>
      </p:sp>
      <p:sp>
        <p:nvSpPr>
          <p:cNvPr id="18" name="Shape 13"/>
          <p:cNvSpPr/>
          <p:nvPr/>
        </p:nvSpPr>
        <p:spPr>
          <a:xfrm>
            <a:off x="5989320" y="201168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95160" y="2240280"/>
            <a:ext cx="640080" cy="640080"/>
          </a:xfrm>
          <a:prstGeom prst="ellipse">
            <a:avLst/>
          </a:prstGeom>
          <a:solidFill>
            <a:srgbClr val="9B59B6">
              <a:alpha val="85000"/>
            </a:srgbClr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350008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2648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Predictive Studies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12648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/>
              <a:t>Limited research exists on predicting I-REC market behavior using governance indicators.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78408"/>
            <a:ext cx="475488" cy="475488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4241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97840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issuance and redemption trends in I-REC markets across countries (2015–2023)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673352"/>
            <a:ext cx="8412480" cy="713232"/>
          </a:xfrm>
          <a:prstGeom prst="rect">
            <a:avLst/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1783080"/>
            <a:ext cx="475488" cy="475488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84708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17830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supply-demand balance and identify market imbalances over time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65760" y="247802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2587752"/>
            <a:ext cx="475488" cy="475488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2587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6517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258775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governance indicator impact on renewable certificate market stability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65760" y="3282696"/>
            <a:ext cx="8412480" cy="713232"/>
          </a:xfrm>
          <a:prstGeom prst="rect">
            <a:avLst/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2920" y="3392424"/>
            <a:ext cx="475488" cy="475488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02920" y="3392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45643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339242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correlation analysis between governance indicators and market metrics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65760" y="408736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02920" y="4197096"/>
            <a:ext cx="475488" cy="475488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02920" y="4197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26110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00200" y="41970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models for I-REC issuances using machine learning approaches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0" y="822960"/>
            <a:ext cx="228600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0" y="822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Period: 2015 – 2023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3977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3977640" cy="475488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7782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850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1: I-REC Registry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417320"/>
            <a:ext cx="37033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1527048"/>
            <a:ext cx="274320" cy="274320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029968"/>
            <a:ext cx="3703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139696"/>
            <a:ext cx="274320" cy="274320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2029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642616"/>
            <a:ext cx="37033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752344"/>
            <a:ext cx="274320" cy="274320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26426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255264"/>
            <a:ext cx="3703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3364992"/>
            <a:ext cx="274320" cy="274320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" y="32552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867912"/>
            <a:ext cx="37033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3977640"/>
            <a:ext cx="274320" cy="274320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3867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0" y="804672"/>
            <a:ext cx="3977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46320" y="804672"/>
            <a:ext cx="3977640" cy="47548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877824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76672" y="850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2: World Governance Indicators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983480" y="1417320"/>
            <a:ext cx="37033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074920" y="1508760"/>
            <a:ext cx="246888" cy="24688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440680" y="141732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of Corruption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983480" y="1929384"/>
            <a:ext cx="3703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074920" y="2020824"/>
            <a:ext cx="246888" cy="24688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440680" y="192938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Effectiveness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983480" y="2441448"/>
            <a:ext cx="37033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074920" y="2532888"/>
            <a:ext cx="246888" cy="24688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440680" y="244144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Stability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4983480" y="2953512"/>
            <a:ext cx="3703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074920" y="3044952"/>
            <a:ext cx="246888" cy="24688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440680" y="295351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Quality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4983480" y="3465576"/>
            <a:ext cx="370332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074920" y="3557016"/>
            <a:ext cx="246888" cy="24688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440680" y="346557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Law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4983480" y="3977640"/>
            <a:ext cx="3703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074920" y="4069080"/>
            <a:ext cx="246888" cy="24688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440680" y="397764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Accountability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46A8F7-C11D-E16C-097E-182D7C252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669"/>
            <a:ext cx="9144000" cy="3598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A895D9-66D1-83CE-931C-C52A2C77D42A}"/>
              </a:ext>
            </a:extLst>
          </p:cNvPr>
          <p:cNvSpPr txBox="1"/>
          <p:nvPr/>
        </p:nvSpPr>
        <p:spPr>
          <a:xfrm>
            <a:off x="198120" y="1391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Sample data</a:t>
            </a: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CEC1426A-90DA-5954-DEDB-DC2E671C2F5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31453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987552" cy="201168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0020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444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2103120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271016" y="2331720"/>
            <a:ext cx="73152" cy="91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25880" y="1371600"/>
            <a:ext cx="987552" cy="2011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488" y="160020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444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371600" y="2103120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322576" y="2331720"/>
            <a:ext cx="73152" cy="91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377440" y="1371600"/>
            <a:ext cx="987552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048" y="160020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23160" y="1444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423160" y="2103120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374136" y="2331720"/>
            <a:ext cx="73152" cy="91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429000" y="1371600"/>
            <a:ext cx="987552" cy="2011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608" y="1600200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474720" y="1444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3474720" y="2103120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25696" y="2331720"/>
            <a:ext cx="73152" cy="91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480560" y="1371600"/>
            <a:ext cx="987552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1600200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26280" y="1444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526280" y="2103120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477256" y="2331720"/>
            <a:ext cx="73152" cy="91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532120" y="1371600"/>
            <a:ext cx="987552" cy="201168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4728" y="1600200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577840" y="1444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5577840" y="2103120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Analysis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528816" y="2331720"/>
            <a:ext cx="73152" cy="91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583680" y="1371600"/>
            <a:ext cx="987552" cy="201168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6288" y="1600200"/>
            <a:ext cx="402336" cy="40233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629400" y="1444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6629400" y="2103120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7580376" y="2331720"/>
            <a:ext cx="73152" cy="914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7635240" y="1371600"/>
            <a:ext cx="987552" cy="2011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7848" y="1600200"/>
            <a:ext cx="402336" cy="40233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680960" y="14447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7680960" y="2103120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Insights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54864" cy="118872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0515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978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78408" y="12527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unnecessary columns from I-REC dataset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8686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868680"/>
            <a:ext cx="54864" cy="118872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0515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978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367528" y="12527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country names across both datasets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" y="2258568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258568"/>
            <a:ext cx="54864" cy="118872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44144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8408" y="23682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978408" y="264261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 through imputation &amp; filtering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9160" y="2258568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258568"/>
            <a:ext cx="54864" cy="118872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44144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67528" y="23682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367528" y="264261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WGI from long format to wide format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0040" y="3648456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" y="3648456"/>
            <a:ext cx="54864" cy="118872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383133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8408" y="37581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978408" y="403250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data at Country–Year level for consistency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709160" y="3648456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09160" y="3648456"/>
            <a:ext cx="54864" cy="118872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83133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67528" y="37581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5367528" y="403250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I-REC and WGI datasets into unified analytical dataset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960120"/>
          </a:xfrm>
          <a:prstGeom prst="rect">
            <a:avLst/>
          </a:prstGeom>
          <a:solidFill>
            <a:srgbClr val="EBF4F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Supply-Demand Gap  =  Issuances  −  Redemptions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2130552"/>
            <a:ext cx="457200" cy="457200"/>
          </a:xfrm>
          <a:prstGeom prst="ellipse">
            <a:avLst/>
          </a:prstGeom>
          <a:solidFill>
            <a:srgbClr val="E74C3C">
              <a:alpha val="90000"/>
            </a:srgbClr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22199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Supply-Demand Gap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" y="25603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certificates issued and redeemed. Positive = oversupply; Negative = shortage.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96596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73752" y="2130552"/>
            <a:ext cx="457200" cy="457200"/>
          </a:xfrm>
          <a:prstGeom prst="ellipse">
            <a:avLst/>
          </a:prstGeom>
          <a:solidFill>
            <a:srgbClr val="27AE60">
              <a:alpha val="90000"/>
            </a:srgbClr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22199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58968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73752" y="25603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percentage changes in issuances and redemptions to capture market dynamics.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342900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4632" y="3593592"/>
            <a:ext cx="457200" cy="457200"/>
          </a:xfrm>
          <a:prstGeom prst="ellipse">
            <a:avLst/>
          </a:prstGeom>
          <a:solidFill>
            <a:srgbClr val="1E6FBF">
              <a:alpha val="90000"/>
            </a:srgbClr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6850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9848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Score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4632" y="40233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average of six WGI indicators per country per year to quantify institutional quality.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09160" y="342900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73752" y="3593592"/>
            <a:ext cx="457200" cy="457200"/>
          </a:xfrm>
          <a:prstGeom prst="ellipse">
            <a:avLst/>
          </a:prstGeom>
          <a:solidFill>
            <a:srgbClr val="9B59B6">
              <a:alpha val="90000"/>
            </a:srgbClr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68503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58968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Strength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73752" y="40233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classified as Strong / Moderate / Weak based on composite governance score.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I-REC Issuances (2015–2023)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446520" y="777240"/>
            <a:ext cx="2468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46520" y="777240"/>
            <a:ext cx="2468880" cy="41148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777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65392" y="132588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2618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growth post-2020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65392" y="187452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18105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market expansion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65392" y="242316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235915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renewable participation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65392" y="297180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290779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market maturity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416552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432511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Rapid growth in renewable energy certificate issuances due to rising sustainability efforts worldwide.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0BCF179-AAD7-168F-2B9D-781BE2636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16627"/>
            <a:ext cx="5902875" cy="31615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Countries by I-REC Issuances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5943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777240"/>
            <a:ext cx="2468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46520" y="777240"/>
            <a:ext cx="2468880" cy="41148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777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65392" y="132588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2618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dominates market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65392" y="187452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18105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&amp; Chile: major players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65392" y="242316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235915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emerging markets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65392" y="297180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290779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geography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416552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432511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leads with dominant market share; Brazil and Chile are significant contributors in Latin America.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I-REC Redemptions (2015–2023)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446520" y="777240"/>
            <a:ext cx="2468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46520" y="777240"/>
            <a:ext cx="2468880" cy="41148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777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65392" y="132588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2618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demand increase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65392" y="187452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18105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sustainability commitments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65392" y="242316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235915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consumption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65392" y="297180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290779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green commitments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416552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432511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growth reflects rising corporate sustainability pledges and renewable energy demand targets.</a:t>
            </a:r>
            <a:endParaRPr lang="en-US" sz="11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4AFB2B6-68BC-0C05-F750-9859BA5C0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77240"/>
            <a:ext cx="6239435" cy="33853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Countries by Redemptions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5943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777240"/>
            <a:ext cx="2468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46520" y="777240"/>
            <a:ext cx="2468880" cy="41148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777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65392" y="132588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2618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&amp; Brazil lead demand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65392" y="187452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18105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markets catching up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65392" y="242316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235915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buying activity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65392" y="297180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290779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diversification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416552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432511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and Brazil lead certificate redemptions, reflecting strong domestic renewable energy demand.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vs Demand Analysis in I-REC Market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446520" y="777240"/>
            <a:ext cx="2468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46520" y="777240"/>
            <a:ext cx="2468880" cy="41148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777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65392" y="132588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2618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Issuances remained higher than redemptions</a:t>
            </a:r>
          </a:p>
        </p:txBody>
      </p:sp>
      <p:sp>
        <p:nvSpPr>
          <p:cNvPr id="10" name="Shape 7"/>
          <p:cNvSpPr/>
          <p:nvPr/>
        </p:nvSpPr>
        <p:spPr>
          <a:xfrm>
            <a:off x="6565392" y="187452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18105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Oversupply existed in the market</a:t>
            </a:r>
          </a:p>
        </p:txBody>
      </p:sp>
      <p:sp>
        <p:nvSpPr>
          <p:cNvPr id="12" name="Shape 9"/>
          <p:cNvSpPr/>
          <p:nvPr/>
        </p:nvSpPr>
        <p:spPr>
          <a:xfrm>
            <a:off x="6565392" y="242316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235915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Supply-demand gap increased after 2021</a:t>
            </a:r>
          </a:p>
        </p:txBody>
      </p:sp>
      <p:sp>
        <p:nvSpPr>
          <p:cNvPr id="14" name="Shape 11"/>
          <p:cNvSpPr/>
          <p:nvPr/>
        </p:nvSpPr>
        <p:spPr>
          <a:xfrm>
            <a:off x="6565392" y="297180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290779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Market stability remains a challenge</a:t>
            </a:r>
          </a:p>
        </p:txBody>
      </p:sp>
      <p:sp>
        <p:nvSpPr>
          <p:cNvPr id="16" name="Shape 13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416552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432511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Continuous oversupply was observed from 2015 to 2023, with the gap increasing sharply after 2021.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50F3247-2A61-D9AB-034A-1528BCE8B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777240"/>
            <a:ext cx="5919825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Indicator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22960"/>
          <a:ext cx="53035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22960"/>
            <a:ext cx="2971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822960"/>
            <a:ext cx="297180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82296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Governance Matters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89320" y="1426464"/>
            <a:ext cx="164592" cy="16459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36208" y="136245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institutions reduce policy uncertainty for investors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89320" y="1975104"/>
            <a:ext cx="164592" cy="16459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36208" y="191109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regulation supports market transparency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89320" y="2523744"/>
            <a:ext cx="164592" cy="16459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208" y="245973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Political stability supports long-term investment</a:t>
            </a:r>
          </a:p>
        </p:txBody>
      </p:sp>
      <p:sp>
        <p:nvSpPr>
          <p:cNvPr id="14" name="Shape 11"/>
          <p:cNvSpPr/>
          <p:nvPr/>
        </p:nvSpPr>
        <p:spPr>
          <a:xfrm>
            <a:off x="5989320" y="3072384"/>
            <a:ext cx="164592" cy="16459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300837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Rule of law improves market trust</a:t>
            </a:r>
          </a:p>
        </p:txBody>
      </p:sp>
      <p:sp>
        <p:nvSpPr>
          <p:cNvPr id="16" name="Shape 13"/>
          <p:cNvSpPr/>
          <p:nvPr/>
        </p:nvSpPr>
        <p:spPr>
          <a:xfrm>
            <a:off x="5989320" y="3621024"/>
            <a:ext cx="164592" cy="164592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355701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governance correlates with renewable energy adoption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32C38D-375A-7536-B7C7-7DE7F342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89" y="891355"/>
            <a:ext cx="5027141" cy="4041796"/>
          </a:xfrm>
          <a:prstGeom prst="rect">
            <a:avLst/>
          </a:prstGeom>
        </p:spPr>
      </p:pic>
      <p:sp>
        <p:nvSpPr>
          <p:cNvPr id="4" name="Shape 146">
            <a:extLst>
              <a:ext uri="{FF2B5EF4-FFF2-40B4-BE49-F238E27FC236}">
                <a16:creationId xmlns:a16="http://schemas.microsoft.com/office/drawing/2014/main" id="{F7D1AFD4-2D4F-6175-33B0-71C2BEC43DFE}"/>
              </a:ext>
            </a:extLst>
          </p:cNvPr>
          <p:cNvSpPr/>
          <p:nvPr/>
        </p:nvSpPr>
        <p:spPr>
          <a:xfrm>
            <a:off x="5257800" y="822960"/>
            <a:ext cx="35661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147">
            <a:extLst>
              <a:ext uri="{FF2B5EF4-FFF2-40B4-BE49-F238E27FC236}">
                <a16:creationId xmlns:a16="http://schemas.microsoft.com/office/drawing/2014/main" id="{A4FFA9D2-6E08-FF12-F3D8-CAAD9E316F4B}"/>
              </a:ext>
            </a:extLst>
          </p:cNvPr>
          <p:cNvSpPr/>
          <p:nvPr/>
        </p:nvSpPr>
        <p:spPr>
          <a:xfrm>
            <a:off x="5257800" y="822960"/>
            <a:ext cx="3566160" cy="41148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6" name="Text 148">
            <a:extLst>
              <a:ext uri="{FF2B5EF4-FFF2-40B4-BE49-F238E27FC236}">
                <a16:creationId xmlns:a16="http://schemas.microsoft.com/office/drawing/2014/main" id="{3CFEBBAB-9800-C932-BF15-16FD86CB2F47}"/>
              </a:ext>
            </a:extLst>
          </p:cNvPr>
          <p:cNvSpPr/>
          <p:nvPr/>
        </p:nvSpPr>
        <p:spPr>
          <a:xfrm>
            <a:off x="5349240" y="822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7" name="Shape 149">
            <a:extLst>
              <a:ext uri="{FF2B5EF4-FFF2-40B4-BE49-F238E27FC236}">
                <a16:creationId xmlns:a16="http://schemas.microsoft.com/office/drawing/2014/main" id="{BB010423-2EF3-A303-35B9-5104731991EB}"/>
              </a:ext>
            </a:extLst>
          </p:cNvPr>
          <p:cNvSpPr/>
          <p:nvPr/>
        </p:nvSpPr>
        <p:spPr>
          <a:xfrm>
            <a:off x="5394960" y="1371600"/>
            <a:ext cx="3291840" cy="868680"/>
          </a:xfrm>
          <a:prstGeom prst="rect">
            <a:avLst/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150">
            <a:extLst>
              <a:ext uri="{FF2B5EF4-FFF2-40B4-BE49-F238E27FC236}">
                <a16:creationId xmlns:a16="http://schemas.microsoft.com/office/drawing/2014/main" id="{3494CBB4-D278-6AD1-B218-E3799B0BEDD9}"/>
              </a:ext>
            </a:extLst>
          </p:cNvPr>
          <p:cNvSpPr/>
          <p:nvPr/>
        </p:nvSpPr>
        <p:spPr>
          <a:xfrm>
            <a:off x="553212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(0.92)</a:t>
            </a:r>
            <a:endParaRPr lang="en-US" sz="1100" dirty="0"/>
          </a:p>
        </p:txBody>
      </p:sp>
      <p:sp>
        <p:nvSpPr>
          <p:cNvPr id="9" name="Text 151">
            <a:extLst>
              <a:ext uri="{FF2B5EF4-FFF2-40B4-BE49-F238E27FC236}">
                <a16:creationId xmlns:a16="http://schemas.microsoft.com/office/drawing/2014/main" id="{1E72FEB0-11F8-CCC2-7073-045AE829189F}"/>
              </a:ext>
            </a:extLst>
          </p:cNvPr>
          <p:cNvSpPr/>
          <p:nvPr/>
        </p:nvSpPr>
        <p:spPr>
          <a:xfrm>
            <a:off x="5532120" y="16733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Issuances ↔ Redemptions</a:t>
            </a:r>
            <a:b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/>
              <a:t>Issuances and redemptions showed a strong positive relationship.</a:t>
            </a:r>
          </a:p>
        </p:txBody>
      </p:sp>
      <p:sp>
        <p:nvSpPr>
          <p:cNvPr id="10" name="Shape 152">
            <a:extLst>
              <a:ext uri="{FF2B5EF4-FFF2-40B4-BE49-F238E27FC236}">
                <a16:creationId xmlns:a16="http://schemas.microsoft.com/office/drawing/2014/main" id="{AC4543C9-048E-5645-1A0C-78F8A26E08AE}"/>
              </a:ext>
            </a:extLst>
          </p:cNvPr>
          <p:cNvSpPr/>
          <p:nvPr/>
        </p:nvSpPr>
        <p:spPr>
          <a:xfrm>
            <a:off x="5394960" y="2423160"/>
            <a:ext cx="3291840" cy="868680"/>
          </a:xfrm>
          <a:prstGeom prst="rect">
            <a:avLst/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Text 153">
            <a:extLst>
              <a:ext uri="{FF2B5EF4-FFF2-40B4-BE49-F238E27FC236}">
                <a16:creationId xmlns:a16="http://schemas.microsoft.com/office/drawing/2014/main" id="{EDEA8033-B3BA-C1E9-1621-A74D33884E87}"/>
              </a:ext>
            </a:extLst>
          </p:cNvPr>
          <p:cNvSpPr/>
          <p:nvPr/>
        </p:nvSpPr>
        <p:spPr>
          <a:xfrm>
            <a:off x="5532120" y="2468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(0.79–0.88)</a:t>
            </a:r>
            <a:endParaRPr lang="en-US" sz="1100" dirty="0"/>
          </a:p>
        </p:txBody>
      </p:sp>
      <p:sp>
        <p:nvSpPr>
          <p:cNvPr id="12" name="Text 154">
            <a:extLst>
              <a:ext uri="{FF2B5EF4-FFF2-40B4-BE49-F238E27FC236}">
                <a16:creationId xmlns:a16="http://schemas.microsoft.com/office/drawing/2014/main" id="{3DA350ED-7703-94BB-239E-2DFAAA742293}"/>
              </a:ext>
            </a:extLst>
          </p:cNvPr>
          <p:cNvSpPr/>
          <p:nvPr/>
        </p:nvSpPr>
        <p:spPr>
          <a:xfrm>
            <a:off x="5532120" y="272491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indicators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among themselves</a:t>
            </a:r>
            <a:endParaRPr lang="en-US" sz="1050" dirty="0"/>
          </a:p>
        </p:txBody>
      </p:sp>
      <p:sp>
        <p:nvSpPr>
          <p:cNvPr id="13" name="Shape 155">
            <a:extLst>
              <a:ext uri="{FF2B5EF4-FFF2-40B4-BE49-F238E27FC236}">
                <a16:creationId xmlns:a16="http://schemas.microsoft.com/office/drawing/2014/main" id="{AD35AB98-85C7-5274-CC92-596B179F2852}"/>
              </a:ext>
            </a:extLst>
          </p:cNvPr>
          <p:cNvSpPr/>
          <p:nvPr/>
        </p:nvSpPr>
        <p:spPr>
          <a:xfrm>
            <a:off x="5394960" y="3474720"/>
            <a:ext cx="3291840" cy="868680"/>
          </a:xfrm>
          <a:prstGeom prst="rect">
            <a:avLst/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56">
            <a:extLst>
              <a:ext uri="{FF2B5EF4-FFF2-40B4-BE49-F238E27FC236}">
                <a16:creationId xmlns:a16="http://schemas.microsoft.com/office/drawing/2014/main" id="{B570DFDF-EB8A-E3EE-587F-2A2700A7D103}"/>
              </a:ext>
            </a:extLst>
          </p:cNvPr>
          <p:cNvSpPr/>
          <p:nvPr/>
        </p:nvSpPr>
        <p:spPr>
          <a:xfrm>
            <a:off x="5532120" y="35204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Weak–Moderate</a:t>
            </a:r>
            <a:endParaRPr lang="en-US" sz="1100" dirty="0"/>
          </a:p>
        </p:txBody>
      </p:sp>
      <p:sp>
        <p:nvSpPr>
          <p:cNvPr id="15" name="Text 157">
            <a:extLst>
              <a:ext uri="{FF2B5EF4-FFF2-40B4-BE49-F238E27FC236}">
                <a16:creationId xmlns:a16="http://schemas.microsoft.com/office/drawing/2014/main" id="{2FF05A48-C27D-DC09-40E1-01D424B12BF6}"/>
              </a:ext>
            </a:extLst>
          </p:cNvPr>
          <p:cNvSpPr/>
          <p:nvPr/>
        </p:nvSpPr>
        <p:spPr>
          <a:xfrm>
            <a:off x="5532120" y="37764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↔ Market</a:t>
            </a:r>
            <a:endParaRPr lang="en-US" sz="1050" dirty="0"/>
          </a:p>
          <a:p>
            <a:r>
              <a:rPr lang="en-US" sz="1050" dirty="0"/>
              <a:t>Governance indicators showed limited direct relationship with market activity.</a:t>
            </a:r>
          </a:p>
        </p:txBody>
      </p:sp>
      <p:sp>
        <p:nvSpPr>
          <p:cNvPr id="16" name="Shape 158">
            <a:extLst>
              <a:ext uri="{FF2B5EF4-FFF2-40B4-BE49-F238E27FC236}">
                <a16:creationId xmlns:a16="http://schemas.microsoft.com/office/drawing/2014/main" id="{A3609651-EB09-77D8-F57A-22262D7DB9A5}"/>
              </a:ext>
            </a:extLst>
          </p:cNvPr>
          <p:cNvSpPr/>
          <p:nvPr/>
        </p:nvSpPr>
        <p:spPr>
          <a:xfrm>
            <a:off x="5257800" y="4526280"/>
            <a:ext cx="356616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9">
            <a:extLst>
              <a:ext uri="{FF2B5EF4-FFF2-40B4-BE49-F238E27FC236}">
                <a16:creationId xmlns:a16="http://schemas.microsoft.com/office/drawing/2014/main" id="{E245DF81-D4C5-5556-B111-013AD047198C}"/>
              </a:ext>
            </a:extLst>
          </p:cNvPr>
          <p:cNvSpPr/>
          <p:nvPr/>
        </p:nvSpPr>
        <p:spPr>
          <a:xfrm>
            <a:off x="5349240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quality may indirectly influence renewable market performance.</a:t>
            </a:r>
            <a:endParaRPr lang="en-US" sz="900" dirty="0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0D5EE8FE-8944-F2C9-65BC-4AB0C9CA0214}"/>
              </a:ext>
            </a:extLst>
          </p:cNvPr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9B1F98-140C-E455-E351-B25F9FE389B3}"/>
              </a:ext>
            </a:extLst>
          </p:cNvPr>
          <p:cNvSpPr txBox="1"/>
          <p:nvPr/>
        </p:nvSpPr>
        <p:spPr>
          <a:xfrm>
            <a:off x="61472" y="80510"/>
            <a:ext cx="4579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Analysis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33403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Effectiveness vs Issuances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400800" y="777240"/>
            <a:ext cx="2514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0" y="777240"/>
            <a:ext cx="2514600" cy="41148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777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37960" y="1353312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28016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A weak positive relationship is observed between government effectiveness and I-REC issuances.</a:t>
            </a:r>
          </a:p>
        </p:txBody>
      </p:sp>
      <p:sp>
        <p:nvSpPr>
          <p:cNvPr id="10" name="Shape 7"/>
          <p:cNvSpPr/>
          <p:nvPr/>
        </p:nvSpPr>
        <p:spPr>
          <a:xfrm>
            <a:off x="6537960" y="2084832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201168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Countries with better governance may support renewable market development more effectively</a:t>
            </a:r>
          </a:p>
        </p:txBody>
      </p:sp>
      <p:sp>
        <p:nvSpPr>
          <p:cNvPr id="12" name="Shape 9"/>
          <p:cNvSpPr/>
          <p:nvPr/>
        </p:nvSpPr>
        <p:spPr>
          <a:xfrm>
            <a:off x="6537960" y="2816352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27432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The relationship is not very strong, indicating that other economic and policy factors also influence issuances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B3DE7D-E9A3-0BD7-5A6B-2644C1951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74" y="777240"/>
            <a:ext cx="5463348" cy="3563941"/>
          </a:xfrm>
          <a:prstGeom prst="rect">
            <a:avLst/>
          </a:prstGeom>
        </p:spPr>
      </p:pic>
      <p:sp>
        <p:nvSpPr>
          <p:cNvPr id="16" name="Shape 13">
            <a:extLst>
              <a:ext uri="{FF2B5EF4-FFF2-40B4-BE49-F238E27FC236}">
                <a16:creationId xmlns:a16="http://schemas.microsoft.com/office/drawing/2014/main" id="{9C9BA2C3-9913-0DF5-DF74-93AAF7A74543}"/>
              </a:ext>
            </a:extLst>
          </p:cNvPr>
          <p:cNvSpPr/>
          <p:nvPr/>
        </p:nvSpPr>
        <p:spPr>
          <a:xfrm>
            <a:off x="502920" y="4425696"/>
            <a:ext cx="841248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B8EFEB07-4ADD-638C-013B-C3ECC6DB9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56" y="4624020"/>
            <a:ext cx="320040" cy="3200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097ACA5-4E5D-FEB8-3979-B4A33F5BD661}"/>
              </a:ext>
            </a:extLst>
          </p:cNvPr>
          <p:cNvSpPr txBox="1"/>
          <p:nvPr/>
        </p:nvSpPr>
        <p:spPr>
          <a:xfrm>
            <a:off x="861688" y="4560743"/>
            <a:ext cx="6796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Overall, the chart suggests that governance has some influence on the I-REC market, but multiple economic and policy factors also play an important role</a:t>
            </a:r>
            <a:endParaRPr lang="en-IN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Quality vs Market Gap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400800" y="777240"/>
            <a:ext cx="2514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0" y="777240"/>
            <a:ext cx="25146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777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37960" y="1353312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28016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A weak relationship is observed between regulatory quality and market gap</a:t>
            </a:r>
          </a:p>
        </p:txBody>
      </p:sp>
      <p:sp>
        <p:nvSpPr>
          <p:cNvPr id="10" name="Shape 7"/>
          <p:cNvSpPr/>
          <p:nvPr/>
        </p:nvSpPr>
        <p:spPr>
          <a:xfrm>
            <a:off x="6537960" y="2084832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201168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Better regulations may help improve market balance in some countries</a:t>
            </a:r>
          </a:p>
        </p:txBody>
      </p:sp>
      <p:sp>
        <p:nvSpPr>
          <p:cNvPr id="12" name="Shape 9"/>
          <p:cNvSpPr/>
          <p:nvPr/>
        </p:nvSpPr>
        <p:spPr>
          <a:xfrm>
            <a:off x="6537960" y="2816352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27432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Market stability is also influenced by economic and energy-related factors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92F3A4-CFBD-387F-7409-1B1F30A5A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95" y="777239"/>
            <a:ext cx="5521795" cy="35661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Issuances by Governance Strength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5943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777240"/>
            <a:ext cx="2468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46520" y="777240"/>
            <a:ext cx="2468880" cy="41148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777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65392" y="132588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2618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gov → higher issuances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65392" y="187452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18105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performance gradient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65392" y="242316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235915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quality impacts growth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65392" y="297180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290779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gov limits market scale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416552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432511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strong governance institutions consistently demonstrate larger and more stable renewable certificate markets.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45720"/>
            <a:ext cx="3657600" cy="36576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43100"/>
            <a:ext cx="3200400" cy="32004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73152" cy="3200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315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I-REC Market Forecasting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346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8072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Forecast issuance behavior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1927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291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indicators as predictive variables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0390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7764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&amp; Random Forest tested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8853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42611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accuracy and feature importance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744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749808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966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82296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977640" y="896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94560" y="1572768"/>
            <a:ext cx="91440" cy="256032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84832" y="1801368"/>
            <a:ext cx="310896" cy="54864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847088"/>
            <a:ext cx="384048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02082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184708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97764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194560" y="2596896"/>
            <a:ext cx="91440" cy="2560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084832" y="2825496"/>
            <a:ext cx="310896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2871216"/>
            <a:ext cx="384048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4495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78992" y="287121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97764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194560" y="3621024"/>
            <a:ext cx="9144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084832" y="3849624"/>
            <a:ext cx="310896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7200" y="3895344"/>
            <a:ext cx="3840480" cy="74980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06908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78992" y="3895344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397764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800600" y="822960"/>
            <a:ext cx="3840480" cy="7498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99669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22392" y="82296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321040" y="896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537960" y="1572768"/>
            <a:ext cx="91440" cy="25603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428232" y="1801368"/>
            <a:ext cx="310896" cy="5486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800600" y="1847088"/>
            <a:ext cx="384048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020824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22392" y="184708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32104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537960" y="2596896"/>
            <a:ext cx="9144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428232" y="2825496"/>
            <a:ext cx="310896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800600" y="2871216"/>
            <a:ext cx="38404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04495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422392" y="287121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832104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6537960" y="3621024"/>
            <a:ext cx="914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428232" y="3849624"/>
            <a:ext cx="310896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4800600" y="3895344"/>
            <a:ext cx="384048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4069080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422392" y="3895344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47" name="Text 37"/>
          <p:cNvSpPr/>
          <p:nvPr/>
        </p:nvSpPr>
        <p:spPr>
          <a:xfrm>
            <a:off x="832104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2468880" y="4526280"/>
            <a:ext cx="4160520" cy="7315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53035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5303520" cy="438912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502920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39903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Interpretable model used to analyze the relationship between governance indicators and I-REC issuances</a:t>
            </a:r>
          </a:p>
        </p:txBody>
      </p:sp>
      <p:sp>
        <p:nvSpPr>
          <p:cNvPr id="10" name="Shape 7"/>
          <p:cNvSpPr/>
          <p:nvPr/>
        </p:nvSpPr>
        <p:spPr>
          <a:xfrm>
            <a:off x="502920" y="2167128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5856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17627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Helps identify how changes in governance variables affect market activity</a:t>
            </a:r>
          </a:p>
        </p:txBody>
      </p:sp>
      <p:sp>
        <p:nvSpPr>
          <p:cNvPr id="13" name="Shape 9"/>
          <p:cNvSpPr/>
          <p:nvPr/>
        </p:nvSpPr>
        <p:spPr>
          <a:xfrm>
            <a:off x="502920" y="2944368"/>
            <a:ext cx="502920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3580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95351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Computationally simple and suitable for academic research analysis</a:t>
            </a:r>
          </a:p>
        </p:txBody>
      </p:sp>
      <p:sp>
        <p:nvSpPr>
          <p:cNvPr id="16" name="Shape 11"/>
          <p:cNvSpPr/>
          <p:nvPr/>
        </p:nvSpPr>
        <p:spPr>
          <a:xfrm>
            <a:off x="502920" y="3721608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1304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73075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Used as a baseline model for comparing predictive performance with Random Forest</a:t>
            </a:r>
          </a:p>
        </p:txBody>
      </p:sp>
      <p:sp>
        <p:nvSpPr>
          <p:cNvPr id="19" name="Shape 13"/>
          <p:cNvSpPr/>
          <p:nvPr/>
        </p:nvSpPr>
        <p:spPr>
          <a:xfrm>
            <a:off x="5852160" y="804672"/>
            <a:ext cx="29718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852160" y="804672"/>
            <a:ext cx="2971800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989320" y="80467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4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5852160" y="1280160"/>
          <a:ext cx="2971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6"/>
          <p:cNvSpPr/>
          <p:nvPr/>
        </p:nvSpPr>
        <p:spPr>
          <a:xfrm>
            <a:off x="598932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80% of the dataset was used for model training</a:t>
            </a: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000" dirty="0"/>
              <a:t>20% of the dataset was reserved for testing.</a:t>
            </a:r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B83EEFCD-3674-844E-34DD-5DDF1123D252}"/>
              </a:ext>
            </a:extLst>
          </p:cNvPr>
          <p:cNvSpPr/>
          <p:nvPr/>
        </p:nvSpPr>
        <p:spPr>
          <a:xfrm>
            <a:off x="365760" y="4700016"/>
            <a:ext cx="8458200" cy="375711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r>
              <a:rPr lang="en-US" sz="1100" dirty="0"/>
              <a:t>The model was developed using historical governance and I-REC market data to evaluate the predictive capability of governance indicators on issuance behavior.</a:t>
            </a:r>
            <a:endParaRPr lang="en-IN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60604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19,657,201.68</a:t>
            </a:r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606040" cy="41148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22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2618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965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 Score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8412480" cy="21834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80360"/>
            <a:ext cx="8412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80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164592" cy="164592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355848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Governance indicators alone showed limited explanatory capability for predicting I-REC issuances.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867912"/>
            <a:ext cx="164592" cy="164592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79476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Renewable certificate markets are influenced by multiple economic, policy, investment, and energy-related factors beyond governance quality.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360612"/>
            <a:ext cx="164592" cy="164592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23367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Large prediction errors were affected by high-volume outlier countries such as China and Brazil.</a:t>
            </a:r>
            <a:endParaRPr lang="en-US" sz="115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72FEC99E-9F5A-D097-2FF0-A237D9F7670F}"/>
              </a:ext>
            </a:extLst>
          </p:cNvPr>
          <p:cNvSpPr/>
          <p:nvPr/>
        </p:nvSpPr>
        <p:spPr>
          <a:xfrm>
            <a:off x="837048" y="457817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CF8F12-A526-24D6-3FCD-8E360239300E}"/>
              </a:ext>
            </a:extLst>
          </p:cNvPr>
          <p:cNvSpPr txBox="1"/>
          <p:nvPr/>
        </p:nvSpPr>
        <p:spPr>
          <a:xfrm>
            <a:off x="713232" y="4605242"/>
            <a:ext cx="76078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negative R² score indicates that governance indicators alone are insufficient for accurate standalone forecasting</a:t>
            </a:r>
            <a:endParaRPr lang="en-IN" sz="1200" dirty="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984496AD-EFDC-7873-9BA9-79E5340EBCEF}"/>
              </a:ext>
            </a:extLst>
          </p:cNvPr>
          <p:cNvSpPr/>
          <p:nvPr/>
        </p:nvSpPr>
        <p:spPr>
          <a:xfrm>
            <a:off x="578096" y="4643640"/>
            <a:ext cx="164592" cy="164592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 Regression Coefficients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5943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777240"/>
            <a:ext cx="2468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46520" y="777240"/>
            <a:ext cx="2468880" cy="41148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777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65392" y="132588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26187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 Effectiveness: strongest predictor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65392" y="187452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18105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Quality: second in importance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65392" y="242316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235915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Stability: significant positive effect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65392" y="297180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290779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effects for remaining indicators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416552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432511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Effectiveness has the largest positive influence on I-REC issuances, confirming institutional capacity matters most.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Issuances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400800" y="777240"/>
            <a:ext cx="2514600" cy="418664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0" y="777240"/>
            <a:ext cx="2514600" cy="41148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777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37960" y="1353312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The model captures some general trends in I-REC issuances but prediction differences remain high across several observations.</a:t>
            </a:r>
          </a:p>
        </p:txBody>
      </p:sp>
      <p:sp>
        <p:nvSpPr>
          <p:cNvPr id="10" name="Shape 7"/>
          <p:cNvSpPr/>
          <p:nvPr/>
        </p:nvSpPr>
        <p:spPr>
          <a:xfrm>
            <a:off x="6537960" y="2508220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23428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Predicted values are consistently higher than actual values in many cases, indicating limited prediction accuracy.</a:t>
            </a:r>
          </a:p>
        </p:txBody>
      </p:sp>
      <p:sp>
        <p:nvSpPr>
          <p:cNvPr id="12" name="Shape 9"/>
          <p:cNvSpPr/>
          <p:nvPr/>
        </p:nvSpPr>
        <p:spPr>
          <a:xfrm>
            <a:off x="6537960" y="3447976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32826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Large variations between actual and predicted issuances suggest that governance indicators alone cannot fully explain I-REC market behavior.</a:t>
            </a:r>
          </a:p>
        </p:txBody>
      </p:sp>
      <p:sp>
        <p:nvSpPr>
          <p:cNvPr id="14" name="Shape 11"/>
          <p:cNvSpPr/>
          <p:nvPr/>
        </p:nvSpPr>
        <p:spPr>
          <a:xfrm>
            <a:off x="6537960" y="4472256"/>
            <a:ext cx="164592" cy="164592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42838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Additional factors such as economic conditions, energy policies, and investment levels may improve model performance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D7EAB20-9E97-75B6-BE83-852686751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1822"/>
            <a:ext cx="6053328" cy="357324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54864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9264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9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02412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I-REC Market Growth: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0" y="9509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and accelerating growth in renewable certificate issuances and redemptions, especially post-2020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0040" y="1664208"/>
            <a:ext cx="8503920" cy="713232"/>
          </a:xfrm>
          <a:prstGeom prst="rect">
            <a:avLst/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1664208"/>
            <a:ext cx="54864" cy="713232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1792224"/>
            <a:ext cx="457200" cy="457200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4708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17739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Surge: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83280" y="177393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Redemptions increased significantly, reflecting rising corporate and government sustainability commitments globally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20040" y="248716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0040" y="2487168"/>
            <a:ext cx="54864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2615184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2670048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Oversupply: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383280" y="259689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consistently exceeds demand, creating a growing market imbalance that poses price stability risks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320040" y="3310128"/>
            <a:ext cx="8503920" cy="713232"/>
          </a:xfrm>
          <a:prstGeom prst="rect">
            <a:avLst/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20040" y="3310128"/>
            <a:ext cx="54864" cy="71323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57200" y="3438144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720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3493008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08760" y="34198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Impact: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3383280" y="341985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/>
              <a:t>Governance indicators showed limited to moderate relationship with I-REC market performance</a:t>
            </a:r>
          </a:p>
        </p:txBody>
      </p:sp>
      <p:sp>
        <p:nvSpPr>
          <p:cNvPr id="32" name="Shape 26"/>
          <p:cNvSpPr/>
          <p:nvPr/>
        </p:nvSpPr>
        <p:spPr>
          <a:xfrm>
            <a:off x="320040" y="413308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20040" y="4133088"/>
            <a:ext cx="54864" cy="7132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57200" y="4261104"/>
            <a:ext cx="457200" cy="45720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5720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315968"/>
            <a:ext cx="347472" cy="34747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508760" y="42428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Predictive Limits: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3383280" y="424281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/>
              <a:t>Machine learning models showed limited predictive capability, indicating that governance indicators alone are insufficient for accurate forecasting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4864" cy="1188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5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9326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Regulatory Frameworks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3533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renewable certificate regulations to reduce market volatility and attract investment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21945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194560"/>
            <a:ext cx="54864" cy="1188720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377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8408" y="23042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Institutional Quality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" y="27249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governance capacity, particularly in emerging markets with weak institutional frameworks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35661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3566160"/>
            <a:ext cx="54864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49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8408" y="36758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Market Transparency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02920" y="40965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better data reporting and market monitoring to enable informed decision-making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27448" y="8229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27448" y="822960"/>
            <a:ext cx="54864" cy="1188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10058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85816" y="9326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Stimulate Certificate Demand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910328" y="13533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policy incentives to encourage greater redemption of renewable certificates globally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727448" y="21945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27448" y="2194560"/>
            <a:ext cx="54864" cy="118872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3774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85816" y="23042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Cooperation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910328" y="27249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cross-border governance frameworks to harmonize emerging renewable certificate markets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80260" y="1042416"/>
            <a:ext cx="640080" cy="640080"/>
          </a:xfrm>
          <a:prstGeom prst="ellipse">
            <a:avLst/>
          </a:prstGeom>
          <a:solidFill>
            <a:srgbClr val="E74C3C">
              <a:alpha val="85000"/>
            </a:srgbClr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115214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01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Macroeconomic Variables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16712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GDP, energy prices, interest rates, and FDI flows were not included as predictors, limiting model completeness.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27448" y="84124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87668" y="1042416"/>
            <a:ext cx="640080" cy="640080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115214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64608" y="1801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Governance-Only Prediction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64608" y="216712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governance indicators as features constrains model explanatory power (R²≈0.31).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0040" y="285292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080260" y="3054096"/>
            <a:ext cx="640080" cy="640080"/>
          </a:xfrm>
          <a:prstGeom prst="ellipse">
            <a:avLst/>
          </a:prstGeom>
          <a:solidFill>
            <a:srgbClr val="1E6FBF">
              <a:alpha val="85000"/>
            </a:srgbClr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9132" y="3163824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" y="38130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Availability Differences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41788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countries have complete I-REC and WGI data, potentially introducing selection bias.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27448" y="285292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87668" y="3054096"/>
            <a:ext cx="640080" cy="640080"/>
          </a:xfrm>
          <a:prstGeom prst="ellipse">
            <a:avLst/>
          </a:prstGeom>
          <a:solidFill>
            <a:srgbClr val="9B59B6">
              <a:alpha val="85000"/>
            </a:srgbClr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3163824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64608" y="38130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Market Volatility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64608" y="41788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instability in developing economy markets creates noise that reduces prediction accuracy.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9264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0789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9509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Variable Set: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27248" y="95097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GDP, energy prices, FDI, CO₂ emissions, and technology-specific data as additional predictors.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1664208"/>
            <a:ext cx="8503920" cy="713232"/>
          </a:xfrm>
          <a:prstGeom prst="rect">
            <a:avLst/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792224"/>
            <a:ext cx="457200" cy="457200"/>
          </a:xfrm>
          <a:prstGeom prst="ellipse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19019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7739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Forecasting: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127248" y="177393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ARIMA, Prophet, or LSTM models for longitudinal prediction of certificate issuance trajectories.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0040" y="248716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2615184"/>
            <a:ext cx="457200" cy="4572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272491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5968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Models: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127248" y="259689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neural networks and ensemble methods to capture non-linear market dynamics and complex interactions.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20040" y="3310128"/>
            <a:ext cx="8503920" cy="713232"/>
          </a:xfrm>
          <a:prstGeom prst="rect">
            <a:avLst/>
          </a:prstGeom>
          <a:solidFill>
            <a:srgbClr val="EBF4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3438144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354787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34198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Market Comparison: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127248" y="341985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detailed sub-regional analysis comparing Asia-Pacific, Latin American, and African market structures.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0040" y="413308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" y="4261104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" y="437083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42428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Simulation: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127248" y="424281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policy simulation models to test the effect of governance reforms on I-REC market outcomes.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08054" y="-12909"/>
            <a:ext cx="2335946" cy="2125173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43100"/>
            <a:ext cx="3200400" cy="32004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85800"/>
            <a:ext cx="73152" cy="4114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4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188720"/>
            <a:ext cx="6858000" cy="27432"/>
          </a:xfrm>
          <a:prstGeom prst="rect">
            <a:avLst/>
          </a:prstGeom>
          <a:solidFill>
            <a:srgbClr val="1E6FBF"/>
          </a:solidFill>
          <a:ln w="12700">
            <a:solidFill>
              <a:srgbClr val="1E6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371600"/>
            <a:ext cx="74980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9961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1399032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I-REC renewable certificate markets are growing rapidly, demonstrating global commitment to energy transition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2212848"/>
            <a:ext cx="7498080" cy="713232"/>
          </a:xfrm>
          <a:prstGeom prst="rect">
            <a:avLst/>
          </a:prstGeom>
          <a:solidFill>
            <a:srgbClr val="162B42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408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22402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quality positively influences market dynamics — stronger institutions enable larger, more stable markets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3054096"/>
            <a:ext cx="74980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8211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89888" y="308152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imbalance (oversupply) remains a structural challenge requiring targeted policy intervention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" y="3895344"/>
            <a:ext cx="7498080" cy="713232"/>
          </a:xfrm>
          <a:prstGeom prst="rect">
            <a:avLst/>
          </a:prstGeom>
          <a:solidFill>
            <a:srgbClr val="162B42"/>
          </a:solidFill>
          <a:ln w="12700">
            <a:solidFill>
              <a:srgbClr val="1E6FB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02336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89888" y="392277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with governance variables provides moderate forecasting capability and offers a research foundation for future multi-factor models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1028700"/>
            <a:ext cx="4114800" cy="41148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20040"/>
            <a:ext cx="685800" cy="6858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"/>
            <a:ext cx="685800" cy="6858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20040"/>
            <a:ext cx="685800" cy="68580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20040"/>
            <a:ext cx="685800" cy="6858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0" name="Shape 4"/>
          <p:cNvSpPr/>
          <p:nvPr/>
        </p:nvSpPr>
        <p:spPr>
          <a:xfrm>
            <a:off x="3200400" y="2606040"/>
            <a:ext cx="2743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91440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Nadim  |  M.Sc. Banking &amp; Financial Analytics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91440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Stability in Emerging Renewable Energy Certificate Systems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2234</Words>
  <Application>Microsoft Office PowerPoint</Application>
  <PresentationFormat>On-screen Show (16:9)</PresentationFormat>
  <Paragraphs>340</Paragraphs>
  <Slides>31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Stability in Emerging Renewable Energy Certificate Systems</dc:title>
  <dc:subject>PptxGenJS Presentation</dc:subject>
  <dc:creator>Md Nadim</dc:creator>
  <cp:lastModifiedBy>Md Nadim</cp:lastModifiedBy>
  <cp:revision>9</cp:revision>
  <dcterms:created xsi:type="dcterms:W3CDTF">2026-05-10T17:04:39Z</dcterms:created>
  <dcterms:modified xsi:type="dcterms:W3CDTF">2026-05-11T07:35:25Z</dcterms:modified>
</cp:coreProperties>
</file>